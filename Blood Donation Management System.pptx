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handoutMasterIdLst>
    <p:handoutMasterId r:id="rId34"/>
  </p:handoutMasterIdLst>
  <p:sldIdLst>
    <p:sldId id="256" r:id="rId2"/>
    <p:sldId id="257" r:id="rId3"/>
    <p:sldId id="258" r:id="rId4"/>
    <p:sldId id="260" r:id="rId5"/>
    <p:sldId id="259" r:id="rId6"/>
    <p:sldId id="268" r:id="rId7"/>
    <p:sldId id="267" r:id="rId8"/>
    <p:sldId id="269" r:id="rId9"/>
    <p:sldId id="270" r:id="rId10"/>
    <p:sldId id="261" r:id="rId11"/>
    <p:sldId id="271" r:id="rId12"/>
    <p:sldId id="272" r:id="rId13"/>
    <p:sldId id="273" r:id="rId14"/>
    <p:sldId id="274" r:id="rId15"/>
    <p:sldId id="275" r:id="rId16"/>
    <p:sldId id="277" r:id="rId17"/>
    <p:sldId id="278" r:id="rId18"/>
    <p:sldId id="279" r:id="rId19"/>
    <p:sldId id="280" r:id="rId20"/>
    <p:sldId id="281" r:id="rId21"/>
    <p:sldId id="276" r:id="rId22"/>
    <p:sldId id="262" r:id="rId23"/>
    <p:sldId id="282" r:id="rId24"/>
    <p:sldId id="283" r:id="rId25"/>
    <p:sldId id="284" r:id="rId26"/>
    <p:sldId id="285" r:id="rId27"/>
    <p:sldId id="292" r:id="rId28"/>
    <p:sldId id="286" r:id="rId29"/>
    <p:sldId id="287" r:id="rId30"/>
    <p:sldId id="288" r:id="rId31"/>
    <p:sldId id="291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7934D7E-C5B3-48B2-8424-D58F56C8CFC8}">
          <p14:sldIdLst>
            <p14:sldId id="256"/>
            <p14:sldId id="257"/>
            <p14:sldId id="258"/>
            <p14:sldId id="260"/>
            <p14:sldId id="259"/>
            <p14:sldId id="268"/>
            <p14:sldId id="267"/>
            <p14:sldId id="269"/>
            <p14:sldId id="270"/>
            <p14:sldId id="261"/>
            <p14:sldId id="271"/>
            <p14:sldId id="272"/>
            <p14:sldId id="273"/>
            <p14:sldId id="274"/>
            <p14:sldId id="275"/>
            <p14:sldId id="277"/>
            <p14:sldId id="278"/>
            <p14:sldId id="279"/>
            <p14:sldId id="280"/>
            <p14:sldId id="281"/>
            <p14:sldId id="276"/>
            <p14:sldId id="262"/>
            <p14:sldId id="282"/>
            <p14:sldId id="283"/>
            <p14:sldId id="284"/>
            <p14:sldId id="285"/>
          </p14:sldIdLst>
        </p14:section>
        <p14:section name="Untitled Section" id="{40E96FD8-7D92-4162-AF05-AD9A7A005DA0}">
          <p14:sldIdLst>
            <p14:sldId id="292"/>
            <p14:sldId id="286"/>
            <p14:sldId id="287"/>
            <p14:sldId id="288"/>
            <p14:sldId id="291"/>
          </p14:sldIdLst>
        </p14:section>
      </p14:sectionLst>
    </p:ex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1E4AEA4-8DFA-4A89-87EB-49C32662AFE0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>
      <p:cViewPr varScale="1">
        <p:scale>
          <a:sx n="78" d="100"/>
          <a:sy n="78" d="100"/>
        </p:scale>
        <p:origin x="878" y="62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3B725B-653D-4166-A8E9-72A38A1847CF}" type="datetimeFigureOut">
              <a:rPr lang="en-US"/>
              <a:t>8/7/2026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861E8E-D392-497B-BB21-122DD7C27CF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08353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3F64CD-0576-4A9A-BD06-7889D6E60BDC}" type="datetimeFigureOut">
              <a:rPr lang="en-US"/>
              <a:t>8/7/2026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55D449-B875-4B8D-8E66-224D27E54C9A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499799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55D449-B875-4B8D-8E66-224D27E54C9A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12690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B8E91-A5BA-4BAC-9314-F1BB94579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B3EF15-AAF7-FB36-CFAC-E443AFE4D4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46CB91-EAAF-0307-78CD-3160F49163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5606C-C2CF-FF44-BFC4-F5D3B9EA0A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55D449-B875-4B8D-8E66-224D27E54C9A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96423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7039EF-9FD7-84BA-2263-97213B6E7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B39C43-0BCA-A0EA-6CCC-C555A53BAC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006A00-94C0-8171-6ACA-F2BD706F02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2BCE19-AB9A-D479-0DA9-B5A432D913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55D449-B875-4B8D-8E66-224D27E54C9A}" type="slidenum">
              <a:rPr lang="en-IN" smtClean="0"/>
              <a:t>27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5295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gradFill flip="none" rotWithShape="1">
          <a:gsLst>
            <a:gs pos="0">
              <a:srgbClr val="D9D9D9"/>
            </a:gs>
            <a:gs pos="100000">
              <a:schemeClr val="bg1"/>
            </a:gs>
          </a:gsLst>
          <a:lin ang="81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6225" y="1828800"/>
            <a:ext cx="4098175" cy="3177380"/>
          </a:xfrm>
        </p:spPr>
        <p:txBody>
          <a:bodyPr anchor="b">
            <a:normAutofit/>
          </a:bodyPr>
          <a:lstStyle>
            <a:lvl1pPr algn="l">
              <a:lnSpc>
                <a:spcPct val="80000"/>
              </a:lnSpc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6225" y="5181600"/>
            <a:ext cx="4098175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7" name="Picture 6" descr="EKG line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88688" y="-1"/>
            <a:ext cx="7000137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862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/>
              <a:t>8/7/2026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12444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75000"/>
              </a:schemeClr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 descr="Rectangle"/>
          <p:cNvSpPr/>
          <p:nvPr/>
        </p:nvSpPr>
        <p:spPr>
          <a:xfrm>
            <a:off x="265112" y="228600"/>
            <a:ext cx="11658600" cy="6400800"/>
          </a:xfrm>
          <a:prstGeom prst="rect">
            <a:avLst/>
          </a:prstGeom>
          <a:noFill/>
          <a:ln w="15875">
            <a:gradFill flip="none" rotWithShape="1">
              <a:gsLst>
                <a:gs pos="0">
                  <a:schemeClr val="bg1">
                    <a:lumMod val="7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1828800"/>
            <a:ext cx="7772400" cy="3177380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5181600"/>
            <a:ext cx="7772400" cy="685800"/>
          </a:xfrm>
        </p:spPr>
        <p:txBody>
          <a:bodyPr>
            <a:normAutofit/>
          </a:bodyPr>
          <a:lstStyle>
            <a:lvl1pPr marL="0" indent="0">
              <a:buNone/>
              <a:defRPr sz="200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06778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1825624"/>
            <a:ext cx="4800600" cy="457517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4600" y="1825624"/>
            <a:ext cx="4800600" cy="457517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/>
              <a:t>8/7/2026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44567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1828799"/>
            <a:ext cx="4800600" cy="762000"/>
          </a:xfrm>
        </p:spPr>
        <p:txBody>
          <a:bodyPr anchor="ctr">
            <a:noAutofit/>
          </a:bodyPr>
          <a:lstStyle>
            <a:lvl1pPr marL="0" indent="0">
              <a:buNone/>
              <a:defRPr sz="2400" b="0" cap="none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6800" y="2590799"/>
            <a:ext cx="4800600" cy="381003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24600" y="1828799"/>
            <a:ext cx="4800600" cy="762000"/>
          </a:xfrm>
        </p:spPr>
        <p:txBody>
          <a:bodyPr anchor="ctr">
            <a:noAutofit/>
          </a:bodyPr>
          <a:lstStyle>
            <a:lvl1pPr marL="0" indent="0">
              <a:buNone/>
              <a:defRPr sz="2400" b="0" cap="none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24600" y="2590799"/>
            <a:ext cx="4800600" cy="381003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/>
              <a:t>8/7/2026</a:t>
            </a:fld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97906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/>
              <a:t>8/7/2026</a:t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38976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/>
              <a:t>8/7/2026</a:t>
            </a:fld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46817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descr="Rectangle"/>
          <p:cNvSpPr/>
          <p:nvPr/>
        </p:nvSpPr>
        <p:spPr>
          <a:xfrm>
            <a:off x="7008812" y="0"/>
            <a:ext cx="5180013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 descr="Rectangle"/>
          <p:cNvSpPr/>
          <p:nvPr/>
        </p:nvSpPr>
        <p:spPr>
          <a:xfrm>
            <a:off x="7255668" y="228600"/>
            <a:ext cx="4686300" cy="6400800"/>
          </a:xfrm>
          <a:prstGeom prst="rect">
            <a:avLst/>
          </a:prstGeom>
          <a:noFill/>
          <a:ln w="15875">
            <a:gradFill flip="none" rotWithShape="1">
              <a:gsLst>
                <a:gs pos="0">
                  <a:schemeClr val="bg1">
                    <a:lumMod val="7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2700000" scaled="1"/>
              <a:tileRect/>
            </a:gra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32700" y="3200400"/>
            <a:ext cx="3932237" cy="175260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457201"/>
            <a:ext cx="5943600" cy="59436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32699" y="5029200"/>
            <a:ext cx="3932237" cy="1371600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67374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descr="Rectangle"/>
          <p:cNvSpPr/>
          <p:nvPr/>
        </p:nvSpPr>
        <p:spPr>
          <a:xfrm>
            <a:off x="7008812" y="0"/>
            <a:ext cx="5180013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 descr="Rectangle"/>
          <p:cNvSpPr/>
          <p:nvPr/>
        </p:nvSpPr>
        <p:spPr>
          <a:xfrm>
            <a:off x="7255668" y="228600"/>
            <a:ext cx="4686300" cy="6400800"/>
          </a:xfrm>
          <a:prstGeom prst="rect">
            <a:avLst/>
          </a:prstGeom>
          <a:noFill/>
          <a:ln w="15875">
            <a:gradFill flip="none" rotWithShape="1">
              <a:gsLst>
                <a:gs pos="0">
                  <a:schemeClr val="bg1">
                    <a:lumMod val="7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2700000" scaled="1"/>
              <a:tileRect/>
            </a:gra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35240" y="3200400"/>
            <a:ext cx="3932237" cy="175260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1" y="0"/>
            <a:ext cx="7008810" cy="6857999"/>
          </a:xfrm>
        </p:spPr>
        <p:txBody>
          <a:bodyPr tIns="45720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35240" y="5029200"/>
            <a:ext cx="3932237" cy="1374648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77249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/>
              <a:t>8/7/2026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77154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 descr="Rectangle"/>
          <p:cNvSpPr/>
          <p:nvPr/>
        </p:nvSpPr>
        <p:spPr>
          <a:xfrm>
            <a:off x="9982200" y="0"/>
            <a:ext cx="22098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58399" y="457201"/>
            <a:ext cx="2057401" cy="5943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457200"/>
            <a:ext cx="9067800" cy="5943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/>
              <a:t>8/7/2026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24635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D9D9D9"/>
            </a:gs>
            <a:gs pos="100000">
              <a:schemeClr val="bg1"/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d bar" descr="Red bar"/>
          <p:cNvSpPr/>
          <p:nvPr/>
        </p:nvSpPr>
        <p:spPr>
          <a:xfrm>
            <a:off x="1" y="1"/>
            <a:ext cx="12188824" cy="1524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99220"/>
            <a:ext cx="10058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0" y="1828799"/>
            <a:ext cx="9144000" cy="45720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481760"/>
            <a:ext cx="7848600" cy="2397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067800" y="6465885"/>
            <a:ext cx="1066800" cy="2397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37CC0096-1860-4642-9CD2-0079EA5E7CD1}" type="datetimeFigureOut">
              <a:rPr lang="en-US" smtClean="0"/>
              <a:pPr/>
              <a:t>8/7/2026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7000" y="6481760"/>
            <a:ext cx="838200" cy="2397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259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SzPct val="100000"/>
        <a:buFont typeface="Arial" pitchFamily="34" charset="0"/>
        <a:buChar char="▪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2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85800" indent="-18288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868680" indent="-182563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051560" indent="-18288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234440" indent="-182880" algn="l" defTabSz="914400" rtl="0" eaLnBrk="1" latinLnBrk="0" hangingPunct="1">
        <a:lnSpc>
          <a:spcPct val="90000"/>
        </a:lnSpc>
        <a:spcBef>
          <a:spcPts val="400"/>
        </a:spcBef>
        <a:buSzPct val="100000"/>
        <a:buFont typeface="Arial" pitchFamily="34" charset="0"/>
        <a:buChar char="▪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417320" indent="-182880" algn="l" defTabSz="914400" rtl="0" eaLnBrk="1" latinLnBrk="0" hangingPunct="1">
        <a:lnSpc>
          <a:spcPct val="90000"/>
        </a:lnSpc>
        <a:spcBef>
          <a:spcPts val="400"/>
        </a:spcBef>
        <a:buSzPct val="100000"/>
        <a:buFont typeface="Arial" pitchFamily="34" charset="0"/>
        <a:buChar char="▪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600200" indent="-182880" algn="l" defTabSz="914400" rtl="0" eaLnBrk="1" latinLnBrk="0" hangingPunct="1">
        <a:lnSpc>
          <a:spcPct val="90000"/>
        </a:lnSpc>
        <a:spcBef>
          <a:spcPts val="400"/>
        </a:spcBef>
        <a:buSzPct val="100000"/>
        <a:buFont typeface="Arial" pitchFamily="34" charset="0"/>
        <a:buChar char="▪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83080" indent="-182880" algn="l" defTabSz="914400" rtl="0" eaLnBrk="1" latinLnBrk="0" hangingPunct="1">
        <a:lnSpc>
          <a:spcPct val="90000"/>
        </a:lnSpc>
        <a:spcBef>
          <a:spcPts val="400"/>
        </a:spcBef>
        <a:buSzPct val="100000"/>
        <a:buFont typeface="Arial" pitchFamily="34" charset="0"/>
        <a:buChar char="▪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345" y="1828800"/>
            <a:ext cx="4896544" cy="3616424"/>
          </a:xfrm>
        </p:spPr>
        <p:txBody>
          <a:bodyPr/>
          <a:lstStyle/>
          <a:p>
            <a:r>
              <a:rPr lang="en-US" dirty="0"/>
              <a:t>Blood Donation Management System</a:t>
            </a:r>
          </a:p>
        </p:txBody>
      </p:sp>
    </p:spTree>
    <p:extLst>
      <p:ext uri="{BB962C8B-B14F-4D97-AF65-F5344CB8AC3E}">
        <p14:creationId xmlns:p14="http://schemas.microsoft.com/office/powerpoint/2010/main" val="435141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344" y="99220"/>
            <a:ext cx="11521280" cy="1325563"/>
          </a:xfrm>
        </p:spPr>
        <p:txBody>
          <a:bodyPr>
            <a:normAutofit/>
          </a:bodyPr>
          <a:lstStyle/>
          <a:p>
            <a:r>
              <a:rPr lang="en-IN" dirty="0"/>
              <a:t>🩸 Abstract  – Blood Donation Management System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5360" y="1828799"/>
            <a:ext cx="8064896" cy="457200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sz="2800" dirty="0"/>
              <a:t>The Blood Donation Management System is designed to manage blood donation records in an organized way. It stores details of donors, hospitals, blood banks, donations, and recipients in a connected database. This system makes it easier to manage and access information while maintaining accurate relationships between different records.</a:t>
            </a:r>
            <a:endParaRPr lang="en-US" sz="2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8F5F530-3665-0422-3F69-5DA84D7744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2224" y="1812156"/>
            <a:ext cx="4491236" cy="506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969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🎯 Objectives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41F5D1-DFC2-9D73-27F9-4169F67803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360" y="1628801"/>
            <a:ext cx="11665296" cy="4772000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lang="en-IN" dirty="0"/>
              <a:t>🧑‍🤝‍🧑 </a:t>
            </a:r>
            <a:r>
              <a:rPr lang="en-IN" b="1" dirty="0"/>
              <a:t>Manage Donors</a:t>
            </a:r>
            <a:br>
              <a:rPr lang="en-IN" dirty="0"/>
            </a:br>
            <a:r>
              <a:rPr lang="en-IN" dirty="0"/>
              <a:t>• Maintain donor details and blood groups. </a:t>
            </a:r>
          </a:p>
          <a:p>
            <a:pPr>
              <a:lnSpc>
                <a:spcPct val="120000"/>
              </a:lnSpc>
            </a:pPr>
            <a:r>
              <a:rPr lang="en-IN" dirty="0"/>
              <a:t>🏥 </a:t>
            </a:r>
            <a:r>
              <a:rPr lang="en-IN" b="1" dirty="0"/>
              <a:t>Manage Hospitals</a:t>
            </a:r>
            <a:br>
              <a:rPr lang="en-IN" dirty="0"/>
            </a:br>
            <a:r>
              <a:rPr lang="en-IN" dirty="0"/>
              <a:t>• Store and organize hospital information. </a:t>
            </a:r>
          </a:p>
          <a:p>
            <a:pPr>
              <a:lnSpc>
                <a:spcPct val="120000"/>
              </a:lnSpc>
            </a:pPr>
            <a:r>
              <a:rPr lang="en-IN" dirty="0"/>
              <a:t>🩸 </a:t>
            </a:r>
            <a:r>
              <a:rPr lang="en-IN" b="1" dirty="0"/>
              <a:t>Track Donations</a:t>
            </a:r>
            <a:br>
              <a:rPr lang="en-IN" dirty="0"/>
            </a:br>
            <a:r>
              <a:rPr lang="en-IN" dirty="0"/>
              <a:t>• Record donation dates, donors, and blood quantities. </a:t>
            </a:r>
          </a:p>
          <a:p>
            <a:pPr>
              <a:lnSpc>
                <a:spcPct val="120000"/>
              </a:lnSpc>
            </a:pPr>
            <a:r>
              <a:rPr lang="en-IN" dirty="0"/>
              <a:t>❤️ </a:t>
            </a:r>
            <a:r>
              <a:rPr lang="en-IN" b="1" dirty="0"/>
              <a:t>Manage Recipients</a:t>
            </a:r>
            <a:br>
              <a:rPr lang="en-IN" dirty="0"/>
            </a:br>
            <a:r>
              <a:rPr lang="en-IN" dirty="0"/>
              <a:t>• Track recipient details and required blood groups. </a:t>
            </a:r>
          </a:p>
          <a:p>
            <a:pPr>
              <a:lnSpc>
                <a:spcPct val="120000"/>
              </a:lnSpc>
            </a:pPr>
            <a:r>
              <a:rPr lang="en-IN" dirty="0"/>
              <a:t>🔗 </a:t>
            </a:r>
            <a:r>
              <a:rPr lang="en-IN" b="1" dirty="0"/>
              <a:t>Maintain Relationships</a:t>
            </a:r>
            <a:br>
              <a:rPr lang="en-IN" dirty="0"/>
            </a:br>
            <a:r>
              <a:rPr lang="en-IN" dirty="0"/>
              <a:t>• Connect donors, hospitals, blood banks, donations, and recipients using primary and foreign keys. </a:t>
            </a:r>
          </a:p>
          <a:p>
            <a:pPr>
              <a:lnSpc>
                <a:spcPct val="120000"/>
              </a:lnSpc>
            </a:pPr>
            <a:r>
              <a:rPr lang="en-IN" dirty="0"/>
              <a:t>🔍 </a:t>
            </a:r>
            <a:r>
              <a:rPr lang="en-IN" b="1" dirty="0"/>
              <a:t>Easy Data Retrieval</a:t>
            </a:r>
            <a:br>
              <a:rPr lang="en-IN" dirty="0"/>
            </a:br>
            <a:r>
              <a:rPr lang="en-IN" dirty="0"/>
              <a:t>• Use SQL queries, JOINs, and subqueries to access related information efficiently.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8620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🩸 </a:t>
            </a:r>
            <a:r>
              <a:rPr lang="en-IN" b="1" dirty="0"/>
              <a:t>Entity Relationship Diagram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7A0306-8AC6-7749-B9E0-EFEE9422CEA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08E6049-76EF-F5B2-F566-873BE2E895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36" y="1556792"/>
            <a:ext cx="11980860" cy="5301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8627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Structure Of Table — Donor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IN" dirty="0"/>
              <a:t>This table stores the personal information of blood donors. It contains the donor ID, donor name, blood group, phone number, and city.</a:t>
            </a:r>
          </a:p>
          <a:p>
            <a:r>
              <a:rPr lang="en-IN" b="1" dirty="0"/>
              <a:t>Syntax: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	DESC Donor;</a:t>
            </a:r>
          </a:p>
          <a:p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FEF0776-01DF-0946-B538-4F1EE4273F0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888088" y="1700808"/>
            <a:ext cx="5040560" cy="3053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826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15B951-F159-DF61-0B70-118290294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1958F-29C4-CACF-C88E-732537CD7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Structure Of Table — Hospital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B0795-CB9B-7AEE-9614-B5474BEC304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IN" dirty="0"/>
              <a:t>This table stores information about hospitals. It contains the hospital ID, hospital name, address, and phone number.</a:t>
            </a:r>
          </a:p>
          <a:p>
            <a:r>
              <a:rPr lang="en-IN" b="1" dirty="0"/>
              <a:t>Syntax: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	DESC Hospital;</a:t>
            </a:r>
          </a:p>
          <a:p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FB7F1E1-A3B9-5563-200C-62B279428E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0" y="1825624"/>
            <a:ext cx="5047363" cy="2323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7514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89A0B-D4F1-3DEC-CA85-9EDEA027C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20754-EDC2-E702-9BFD-9663F2E07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Structure Of Table: </a:t>
            </a:r>
            <a:r>
              <a:rPr lang="en-IN" dirty="0" err="1"/>
              <a:t>Bloodbank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2264B6-0A24-7CD9-7315-D8CDD721B66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IN" dirty="0"/>
              <a:t>This table stores information about blood banks associated with hospitals. It contains the blood bank ID, hospital ID, bank name, and location.</a:t>
            </a:r>
          </a:p>
          <a:p>
            <a:r>
              <a:rPr lang="en-IN" b="1" dirty="0"/>
              <a:t>Syntax: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	DESC </a:t>
            </a:r>
            <a:r>
              <a:rPr lang="en-IN" dirty="0" err="1"/>
              <a:t>BloodBank</a:t>
            </a:r>
            <a:r>
              <a:rPr lang="en-IN" dirty="0"/>
              <a:t>;</a:t>
            </a:r>
          </a:p>
          <a:p>
            <a:pPr marL="0" indent="0">
              <a:buNone/>
            </a:pPr>
            <a:endParaRPr lang="en-IN" dirty="0"/>
          </a:p>
          <a:p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FDA4693-2450-F79B-5FB0-D80D5E92FD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1507" y="1825624"/>
            <a:ext cx="5566099" cy="2323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895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881CDD-F388-D9B7-48B7-956DB7339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78725-BAF8-102B-7421-3210D21E6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Structure Of Table: Donation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0953CD-D40B-9939-D1B5-1977AE03F92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IN" dirty="0"/>
              <a:t>This table stores information about blood donations. It contains the donation ID, donor ID, blood bank ID, donation date, and quantity of blood donated.</a:t>
            </a:r>
          </a:p>
          <a:p>
            <a:r>
              <a:rPr lang="en-IN" b="1" dirty="0"/>
              <a:t>Syntax: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	DESC Donation;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6AC18F-EF13-25BD-09FD-884F59BCA7B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350"/>
          <a:stretch>
            <a:fillRect/>
          </a:stretch>
        </p:blipFill>
        <p:spPr>
          <a:xfrm>
            <a:off x="6096000" y="1700808"/>
            <a:ext cx="6062665" cy="2952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537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15FA57-B753-F180-6167-3C3C38BF1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CAA80-DC01-2B76-4A77-C7B823C7B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Structure Of Table: Recipient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CCD37B-8FD1-BC0F-E36C-1D67BB3BD82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IN" dirty="0"/>
              <a:t>This table stores information about recipients who require blood. It contains the recipient ID, hospital ID, donation ID, recipient name, required blood group, and phone number.</a:t>
            </a:r>
          </a:p>
          <a:p>
            <a:r>
              <a:rPr lang="en-IN" b="1" dirty="0"/>
              <a:t>Syntax: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	DESC Recipient;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AFCFE92-47DA-8044-6EA2-300C302FB14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947"/>
          <a:stretch>
            <a:fillRect/>
          </a:stretch>
        </p:blipFill>
        <p:spPr>
          <a:xfrm>
            <a:off x="6096000" y="1739684"/>
            <a:ext cx="5548941" cy="3378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38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9536" y="404664"/>
            <a:ext cx="8352928" cy="602587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/>
              <a:t>Contents of Donor Table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0F0BDB-0D65-9924-38F6-B87DFFFA9C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7608" y="1801536"/>
            <a:ext cx="8496944" cy="46403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CA7AEE7-FE82-9987-A3C7-244A20E51962}"/>
              </a:ext>
            </a:extLst>
          </p:cNvPr>
          <p:cNvSpPr txBox="1"/>
          <p:nvPr/>
        </p:nvSpPr>
        <p:spPr>
          <a:xfrm>
            <a:off x="2927648" y="1007251"/>
            <a:ext cx="49685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Syntax:-</a:t>
            </a:r>
          </a:p>
          <a:p>
            <a:r>
              <a:rPr lang="en-US" dirty="0">
                <a:solidFill>
                  <a:schemeClr val="bg1"/>
                </a:solidFill>
              </a:rPr>
              <a:t>	SELECT * FROM Donor;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7718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3A71AE-3147-6CFB-C10D-22C8EA29C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347C0-588C-E37A-5143-0B5155FB4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9536" y="404664"/>
            <a:ext cx="8352928" cy="602587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/>
              <a:t>Contents of Hospital Table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01C982-3A88-C6F4-B72D-91F824EFA45E}"/>
              </a:ext>
            </a:extLst>
          </p:cNvPr>
          <p:cNvSpPr txBox="1"/>
          <p:nvPr/>
        </p:nvSpPr>
        <p:spPr>
          <a:xfrm>
            <a:off x="2927648" y="1007251"/>
            <a:ext cx="49685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Syntax:-</a:t>
            </a:r>
          </a:p>
          <a:p>
            <a:r>
              <a:rPr lang="en-US" dirty="0">
                <a:solidFill>
                  <a:schemeClr val="bg1"/>
                </a:solidFill>
              </a:rPr>
              <a:t>	SELECT * FROM Hospital ;</a:t>
            </a:r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BA9AEA-359C-FB3F-017E-9E8E64D5AC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7528" y="1653582"/>
            <a:ext cx="8352928" cy="4799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284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3C28BD-157A-58CA-A1B5-FCEDACF88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97A77-5F87-199F-F862-01A949995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9536" y="404664"/>
            <a:ext cx="8352928" cy="602587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/>
              <a:t>Contents of </a:t>
            </a:r>
            <a:r>
              <a:rPr lang="en-IN" dirty="0" err="1"/>
              <a:t>BloodBank</a:t>
            </a:r>
            <a:r>
              <a:rPr lang="en-IN" dirty="0"/>
              <a:t> Table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81083A-49D4-7B90-BE64-B1A4FB708731}"/>
              </a:ext>
            </a:extLst>
          </p:cNvPr>
          <p:cNvSpPr txBox="1"/>
          <p:nvPr/>
        </p:nvSpPr>
        <p:spPr>
          <a:xfrm>
            <a:off x="2927648" y="1007251"/>
            <a:ext cx="49685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Syntax:-</a:t>
            </a:r>
          </a:p>
          <a:p>
            <a:r>
              <a:rPr lang="en-US" dirty="0">
                <a:solidFill>
                  <a:schemeClr val="bg1"/>
                </a:solidFill>
              </a:rPr>
              <a:t>	SELECT * FROM BloodBank ;</a:t>
            </a:r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5DB6C0-C1FD-A626-CC28-95824A2755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2205" y="1799283"/>
            <a:ext cx="8280920" cy="4680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010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6713F4-7053-80B5-FDC8-E3AB842BB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200DD-5B6B-311C-F418-D3A5ACD9E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9536" y="404664"/>
            <a:ext cx="8352928" cy="602587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/>
              <a:t>Contents of Donation Table 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FD9D79-6065-A401-D41E-641DEF59C637}"/>
              </a:ext>
            </a:extLst>
          </p:cNvPr>
          <p:cNvSpPr txBox="1"/>
          <p:nvPr/>
        </p:nvSpPr>
        <p:spPr>
          <a:xfrm>
            <a:off x="2927648" y="1007251"/>
            <a:ext cx="49685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Syntax:-</a:t>
            </a:r>
          </a:p>
          <a:p>
            <a:r>
              <a:rPr lang="en-US" dirty="0">
                <a:solidFill>
                  <a:schemeClr val="bg1"/>
                </a:solidFill>
              </a:rPr>
              <a:t>	SELECT * FROM Donation ;</a:t>
            </a:r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AD62C9-68FD-7D27-2929-01F191B34E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9536" y="1772816"/>
            <a:ext cx="8136904" cy="4680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8221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532708-ACD9-C9F5-6FED-462A1CBDF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2F55D-CC2E-DCEC-3EF8-8D9F546CB7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9536" y="404664"/>
            <a:ext cx="8352928" cy="602587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/>
              <a:t>Contents of Recipient Table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95E2D3-A525-61CF-CD74-E4770C744541}"/>
              </a:ext>
            </a:extLst>
          </p:cNvPr>
          <p:cNvSpPr txBox="1"/>
          <p:nvPr/>
        </p:nvSpPr>
        <p:spPr>
          <a:xfrm>
            <a:off x="2927648" y="1007251"/>
            <a:ext cx="49685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Syntax:-</a:t>
            </a:r>
          </a:p>
          <a:p>
            <a:r>
              <a:rPr lang="en-US" dirty="0">
                <a:solidFill>
                  <a:schemeClr val="bg1"/>
                </a:solidFill>
              </a:rPr>
              <a:t>	SELECT * FROM Recipient ;</a:t>
            </a:r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50412A-119C-CBA3-E56F-C4AD489D9A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9496" y="1642954"/>
            <a:ext cx="8784976" cy="4738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687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91332BA-ECB4-E7D3-C99E-9901EB751F3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187" r="8772" b="41956"/>
          <a:stretch>
            <a:fillRect/>
          </a:stretch>
        </p:blipFill>
        <p:spPr>
          <a:xfrm>
            <a:off x="983432" y="260648"/>
            <a:ext cx="10225136" cy="374441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964567E-698D-DAFE-C922-9D0A247FD6BC}"/>
              </a:ext>
            </a:extLst>
          </p:cNvPr>
          <p:cNvSpPr txBox="1"/>
          <p:nvPr/>
        </p:nvSpPr>
        <p:spPr>
          <a:xfrm>
            <a:off x="818077" y="4437112"/>
            <a:ext cx="1036915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800" b="1" dirty="0">
                <a:solidFill>
                  <a:schemeClr val="bg1"/>
                </a:solidFill>
              </a:rPr>
              <a:t>Blood Donation Joins</a:t>
            </a:r>
          </a:p>
        </p:txBody>
      </p:sp>
    </p:spTree>
    <p:extLst>
      <p:ext uri="{BB962C8B-B14F-4D97-AF65-F5344CB8AC3E}">
        <p14:creationId xmlns:p14="http://schemas.microsoft.com/office/powerpoint/2010/main" val="2570134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C506E-CD50-CA57-A187-5BF8C0EE3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ED98B-6D5F-CA7B-229C-1B51B1AD0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US" dirty="0"/>
              <a:t>    					Joins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E02578-C442-710E-4C01-5B73B0AE83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08E36C-3797-62FC-BE01-1B6B4E954EF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606B52-7991-D104-6BCE-0E9909C82D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IN" dirty="0"/>
              <a:t>Q1. Display donor name and donation details.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4FA1DB-6584-1CAE-7A10-4817EE700F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24600" y="2601641"/>
            <a:ext cx="5027984" cy="3347639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en-US" dirty="0"/>
              <a:t>Syntax 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dirty="0"/>
              <a:t>Select d.name, </a:t>
            </a:r>
            <a:r>
              <a:rPr lang="en-US" dirty="0" err="1"/>
              <a:t>d.blood_group</a:t>
            </a:r>
            <a:r>
              <a:rPr lang="en-US" dirty="0"/>
              <a:t>,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dirty="0" err="1"/>
              <a:t>dn.donation_date</a:t>
            </a:r>
            <a:r>
              <a:rPr lang="en-US" dirty="0"/>
              <a:t>, </a:t>
            </a:r>
            <a:r>
              <a:rPr lang="en-US" dirty="0" err="1"/>
              <a:t>dn.quantity</a:t>
            </a:r>
            <a:endParaRPr lang="en-US" dirty="0"/>
          </a:p>
          <a:p>
            <a:pPr marL="0" indent="0" algn="just">
              <a:lnSpc>
                <a:spcPct val="100000"/>
              </a:lnSpc>
              <a:buNone/>
            </a:pPr>
            <a:r>
              <a:rPr lang="en-US" dirty="0"/>
              <a:t>From Donor d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dirty="0"/>
              <a:t>Inner join Donation dn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dirty="0"/>
              <a:t>on </a:t>
            </a:r>
            <a:r>
              <a:rPr lang="en-US" dirty="0" err="1"/>
              <a:t>d.donor_id</a:t>
            </a:r>
            <a:r>
              <a:rPr lang="en-US" dirty="0"/>
              <a:t> = </a:t>
            </a:r>
            <a:r>
              <a:rPr lang="en-US" dirty="0" err="1"/>
              <a:t>dn.donor_id</a:t>
            </a:r>
            <a:r>
              <a:rPr lang="en-US" dirty="0"/>
              <a:t>;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062E86D-C574-1758-F50B-0C23B8AAA5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60" y="1700808"/>
            <a:ext cx="5691556" cy="4968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910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F17A69-0C91-D041-9730-D216390E9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336AD-F8ED-3DCC-74DE-06747A42B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US" dirty="0"/>
              <a:t>    					Joins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E7BC31-7B2F-918A-626A-60E03A3EAF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9EC299-9976-86A9-303C-967A7DC6D31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2A0E74-1AA1-B387-A60C-A5738B0E88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IN" dirty="0"/>
              <a:t>Q2. Display hospital and blood bank details 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9CBD8D-BF15-AD4A-5980-604DF5ADD2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24600" y="2601641"/>
            <a:ext cx="5532040" cy="341964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Syntax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/>
              <a:t>Select </a:t>
            </a:r>
            <a:r>
              <a:rPr lang="en-US" dirty="0" err="1"/>
              <a:t>h.hospital_name</a:t>
            </a:r>
            <a:r>
              <a:rPr lang="en-US" dirty="0"/>
              <a:t>, </a:t>
            </a:r>
            <a:r>
              <a:rPr lang="en-US" dirty="0" err="1"/>
              <a:t>b.bank_name</a:t>
            </a:r>
            <a:r>
              <a:rPr lang="en-US" dirty="0"/>
              <a:t>, </a:t>
            </a:r>
            <a:r>
              <a:rPr lang="en-US" dirty="0" err="1"/>
              <a:t>b.location</a:t>
            </a:r>
            <a:endParaRPr lang="en-US" dirty="0"/>
          </a:p>
          <a:p>
            <a:pPr marL="0" indent="0">
              <a:lnSpc>
                <a:spcPct val="100000"/>
              </a:lnSpc>
              <a:buNone/>
            </a:pPr>
            <a:r>
              <a:rPr lang="en-US" dirty="0"/>
              <a:t>From Hospital h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/>
              <a:t>inner join BloodBank b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/>
              <a:t>On </a:t>
            </a:r>
            <a:r>
              <a:rPr lang="en-US" dirty="0" err="1"/>
              <a:t>h.hospital_id</a:t>
            </a:r>
            <a:r>
              <a:rPr lang="en-US" dirty="0"/>
              <a:t> = </a:t>
            </a:r>
            <a:r>
              <a:rPr lang="en-US" dirty="0" err="1"/>
              <a:t>b.hospital_id</a:t>
            </a:r>
            <a:r>
              <a:rPr lang="en-US" dirty="0"/>
              <a:t>;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88DE35F-90FE-6058-C409-9ABBAF4CFD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474" y="1700808"/>
            <a:ext cx="5859534" cy="4968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008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3A49E1-4713-1230-E8F9-267076688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1EA1E-579E-6B34-2837-3CAFCBDCC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US" dirty="0"/>
              <a:t>    					Joins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3CBCFE-0D23-5F07-76F7-41820EA6D4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84A3FB-B8FE-3899-8EEE-1C61168A168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/>
          </a:bodyPr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E12BF9-511D-DA67-4DE3-6CBC3C0F8E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96000" y="1621390"/>
            <a:ext cx="4800600" cy="762000"/>
          </a:xfrm>
        </p:spPr>
        <p:txBody>
          <a:bodyPr/>
          <a:lstStyle/>
          <a:p>
            <a:r>
              <a:rPr lang="en-IN" dirty="0"/>
              <a:t>Q3. Display donor and blood bank details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08CD3D-A768-FF29-332B-C6A0223188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951985" y="2281935"/>
            <a:ext cx="6240016" cy="4427759"/>
          </a:xfrm>
        </p:spPr>
        <p:txBody>
          <a:bodyPr>
            <a:normAutofit fontScale="92500"/>
          </a:bodyPr>
          <a:lstStyle/>
          <a:p>
            <a:pPr>
              <a:lnSpc>
                <a:spcPct val="100000"/>
              </a:lnSpc>
            </a:pPr>
            <a:r>
              <a:rPr lang="en-US" dirty="0"/>
              <a:t>Syntax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Select d.name as </a:t>
            </a:r>
            <a:r>
              <a:rPr lang="en-US" sz="1800" dirty="0" err="1"/>
              <a:t>Donor_Name</a:t>
            </a:r>
            <a:r>
              <a:rPr lang="en-US" sz="1800" dirty="0"/>
              <a:t>, </a:t>
            </a:r>
            <a:r>
              <a:rPr lang="en-US" sz="1800" dirty="0" err="1"/>
              <a:t>d.blood_group</a:t>
            </a:r>
            <a:r>
              <a:rPr lang="en-US" sz="1800" dirty="0"/>
              <a:t>,  </a:t>
            </a:r>
            <a:r>
              <a:rPr lang="en-US" sz="1800" dirty="0" err="1"/>
              <a:t>b.bank_name</a:t>
            </a:r>
            <a:r>
              <a:rPr lang="en-US" sz="1800" dirty="0"/>
              <a:t> as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 err="1"/>
              <a:t>Blood_Bank</a:t>
            </a:r>
            <a:r>
              <a:rPr lang="en-US" sz="1800" dirty="0"/>
              <a:t>, </a:t>
            </a:r>
            <a:r>
              <a:rPr lang="en-US" sz="1800" dirty="0" err="1"/>
              <a:t>dn.donation_date</a:t>
            </a:r>
            <a:r>
              <a:rPr lang="en-US" sz="1800" dirty="0"/>
              <a:t>, </a:t>
            </a:r>
            <a:r>
              <a:rPr lang="en-US" sz="1800" dirty="0" err="1"/>
              <a:t>dn.quantity</a:t>
            </a:r>
            <a:r>
              <a:rPr lang="en-US" sz="1800" dirty="0"/>
              <a:t>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From  Donor d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/>
              <a:t>inner join Donation dn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/>
              <a:t>on </a:t>
            </a:r>
            <a:r>
              <a:rPr lang="en-US" sz="1800" dirty="0" err="1"/>
              <a:t>d.donor_id</a:t>
            </a:r>
            <a:r>
              <a:rPr lang="en-US" sz="1800" dirty="0"/>
              <a:t> = </a:t>
            </a:r>
            <a:r>
              <a:rPr lang="en-US" sz="1800" dirty="0" err="1"/>
              <a:t>dn.donor_id</a:t>
            </a:r>
            <a:endParaRPr lang="en-US" sz="1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/>
              <a:t>inner join </a:t>
            </a:r>
            <a:r>
              <a:rPr lang="en-US" sz="1800" dirty="0" err="1"/>
              <a:t>bloodbank</a:t>
            </a:r>
            <a:r>
              <a:rPr lang="en-US" sz="1800" dirty="0"/>
              <a:t> b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/>
              <a:t>on </a:t>
            </a:r>
            <a:r>
              <a:rPr lang="en-US" sz="1800" dirty="0" err="1"/>
              <a:t>dn.bloodbank_id</a:t>
            </a:r>
            <a:r>
              <a:rPr lang="en-US" sz="1800" dirty="0"/>
              <a:t> = </a:t>
            </a:r>
            <a:r>
              <a:rPr lang="en-US" sz="1800" dirty="0" err="1"/>
              <a:t>b.bloodbank_id</a:t>
            </a:r>
            <a:r>
              <a:rPr lang="en-US" sz="1800" dirty="0"/>
              <a:t>;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FB87089-0B21-D797-8A11-900BF121347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870"/>
          <a:stretch>
            <a:fillRect/>
          </a:stretch>
        </p:blipFill>
        <p:spPr>
          <a:xfrm>
            <a:off x="188322" y="1621390"/>
            <a:ext cx="5679078" cy="5137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860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12A32E-05B9-AF09-D57E-ABD96215B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47FD3-9AAC-8215-849E-EE80C4CDD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US" dirty="0"/>
              <a:t>    					Joins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B8971E-E7C9-7489-FB8C-812728D607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5F2F04-C68E-BD43-7F60-EAB6B2B9EA7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812855-6DDD-A814-5545-CE56F13031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96000" y="1621390"/>
            <a:ext cx="4800600" cy="762000"/>
          </a:xfrm>
        </p:spPr>
        <p:txBody>
          <a:bodyPr/>
          <a:lstStyle/>
          <a:p>
            <a:r>
              <a:rPr lang="en-IN" dirty="0"/>
              <a:t>Q4. Display recipient and hospital details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C46430-B1A9-C34A-A6FC-1724AD4D56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951985" y="2281935"/>
            <a:ext cx="6240016" cy="4427759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Syntax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Select r.name as </a:t>
            </a:r>
            <a:r>
              <a:rPr lang="en-US" sz="1800" dirty="0" err="1"/>
              <a:t>Recipient_Name</a:t>
            </a:r>
            <a:r>
              <a:rPr lang="en-US" sz="1800" dirty="0"/>
              <a:t>, </a:t>
            </a:r>
            <a:r>
              <a:rPr lang="en-US" sz="1800" dirty="0" err="1"/>
              <a:t>r.blood_group_needed</a:t>
            </a:r>
            <a:r>
              <a:rPr lang="en-US" sz="1800" dirty="0"/>
              <a:t>,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 </a:t>
            </a:r>
            <a:r>
              <a:rPr lang="en-US" sz="1800" dirty="0" err="1"/>
              <a:t>h.hospital_name</a:t>
            </a:r>
            <a:r>
              <a:rPr lang="en-US" sz="1800" dirty="0"/>
              <a:t>, </a:t>
            </a:r>
            <a:r>
              <a:rPr lang="en-US" sz="1800" dirty="0" err="1"/>
              <a:t>h.address</a:t>
            </a:r>
            <a:endParaRPr lang="en-US" sz="18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from Recipient r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inner join Hospital h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on </a:t>
            </a:r>
            <a:r>
              <a:rPr lang="en-US" sz="1800" dirty="0" err="1"/>
              <a:t>r.hospital_id</a:t>
            </a:r>
            <a:r>
              <a:rPr lang="en-US" sz="1800" dirty="0"/>
              <a:t> = </a:t>
            </a:r>
            <a:r>
              <a:rPr lang="en-US" sz="1800" dirty="0" err="1"/>
              <a:t>h.hospital_id</a:t>
            </a:r>
            <a:r>
              <a:rPr lang="en-US" sz="1800" dirty="0"/>
              <a:t>;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C751309-C492-B555-2310-C114AA96897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172"/>
          <a:stretch>
            <a:fillRect/>
          </a:stretch>
        </p:blipFill>
        <p:spPr>
          <a:xfrm>
            <a:off x="119335" y="1586824"/>
            <a:ext cx="5832650" cy="5171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528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5C1AA4-41BC-7EAA-5C51-7538B53A5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7F60A-AEA5-71AF-67E4-899120828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US" dirty="0"/>
              <a:t>    					Joins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E07EB7-FF09-41BA-D942-19F65D7FD5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6EB7C0-35E5-EC6D-43CA-E2A943BCA21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1995DA-BE7C-FEE4-2573-8F0911EE97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7704" y="1689593"/>
            <a:ext cx="4800600" cy="762000"/>
          </a:xfrm>
        </p:spPr>
        <p:txBody>
          <a:bodyPr/>
          <a:lstStyle/>
          <a:p>
            <a:r>
              <a:rPr lang="en-IN" dirty="0"/>
              <a:t>Q5. Display complete blood donation information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E8F3C2-74D7-E35B-3ADE-4C0AC59548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2024" y="2451593"/>
            <a:ext cx="5864200" cy="4427759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00000"/>
              </a:lnSpc>
            </a:pPr>
            <a:r>
              <a:rPr lang="en-US" dirty="0"/>
              <a:t>Syntax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/>
              <a:t>SELECT d.name as Donor_Name,   d.blood_group as Donor_Blood_Group,  b.bank_name as Blood_Bank, dn.donation_date, dn.quantity,  r.name as </a:t>
            </a:r>
            <a:r>
              <a:rPr lang="en-US" dirty="0" err="1"/>
              <a:t>Recipient_Name</a:t>
            </a:r>
            <a:r>
              <a:rPr lang="en-US" dirty="0"/>
              <a:t>,   r.blood_group_needed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/>
              <a:t>from Donor d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/>
              <a:t>inner join Donation dn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/>
              <a:t>on d.donor_id = </a:t>
            </a:r>
            <a:r>
              <a:rPr lang="en-US" dirty="0" err="1"/>
              <a:t>dn.donor_id</a:t>
            </a:r>
            <a:endParaRPr lang="en-US" dirty="0"/>
          </a:p>
          <a:p>
            <a:pPr marL="0" indent="0">
              <a:lnSpc>
                <a:spcPct val="100000"/>
              </a:lnSpc>
              <a:buNone/>
            </a:pPr>
            <a:r>
              <a:rPr lang="en-US" dirty="0"/>
              <a:t>inner join BloodBank b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/>
              <a:t>on dn.bloodbank_id = </a:t>
            </a:r>
            <a:r>
              <a:rPr lang="en-US" dirty="0" err="1"/>
              <a:t>b.bloodbank_id</a:t>
            </a:r>
            <a:endParaRPr lang="en-US" dirty="0"/>
          </a:p>
          <a:p>
            <a:pPr marL="0" indent="0">
              <a:lnSpc>
                <a:spcPct val="100000"/>
              </a:lnSpc>
              <a:buNone/>
            </a:pPr>
            <a:r>
              <a:rPr lang="en-US" dirty="0"/>
              <a:t>inner join Recipient r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/>
              <a:t>on dn.donation_id = </a:t>
            </a:r>
            <a:r>
              <a:rPr lang="en-US" dirty="0" err="1"/>
              <a:t>r.donation_id</a:t>
            </a:r>
            <a:r>
              <a:rPr lang="en-US" dirty="0"/>
              <a:t>;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C0C4422-7EA3-A96C-0239-44490BEC7D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76" y="1556792"/>
            <a:ext cx="6296248" cy="5201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6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35E20-E633-4307-91CE-28DF5818B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EB620CE-A265-0AF2-129F-49513B34C1C7}"/>
              </a:ext>
            </a:extLst>
          </p:cNvPr>
          <p:cNvSpPr txBox="1"/>
          <p:nvPr/>
        </p:nvSpPr>
        <p:spPr>
          <a:xfrm>
            <a:off x="8256240" y="1268760"/>
            <a:ext cx="316835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6000" b="1" dirty="0">
                <a:solidFill>
                  <a:schemeClr val="bg1"/>
                </a:solidFill>
              </a:rPr>
              <a:t>Blood Donation Sub Queries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2843B63-48B2-F2FE-EC08-87C5891F691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0541"/>
          <a:stretch>
            <a:fillRect/>
          </a:stretch>
        </p:blipFill>
        <p:spPr>
          <a:xfrm>
            <a:off x="911424" y="895349"/>
            <a:ext cx="6840760" cy="506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610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Sub query 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7364D76-9990-055D-863B-416551E48A8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263352" y="1772816"/>
            <a:ext cx="4680520" cy="4752528"/>
          </a:xfrm>
          <a:prstGeom prst="rect">
            <a:avLst/>
          </a:prstGeom>
        </p:spPr>
      </p:pic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67401" y="1828799"/>
            <a:ext cx="6493295" cy="762000"/>
          </a:xfrm>
        </p:spPr>
        <p:txBody>
          <a:bodyPr/>
          <a:lstStyle/>
          <a:p>
            <a:r>
              <a:rPr lang="en-IN" dirty="0"/>
              <a:t>Q1. Find the donor who donated the maximum quantity of blood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96000" y="2733607"/>
            <a:ext cx="5672504" cy="3810033"/>
          </a:xfrm>
        </p:spPr>
        <p:txBody>
          <a:bodyPr>
            <a:normAutofit/>
          </a:bodyPr>
          <a:lstStyle/>
          <a:p>
            <a:r>
              <a:rPr lang="en-US" dirty="0"/>
              <a:t>Syntax 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dirty="0"/>
              <a:t>	select name from donor where </a:t>
            </a:r>
            <a:r>
              <a:rPr lang="en-US" dirty="0" err="1"/>
              <a:t>donor_id</a:t>
            </a:r>
            <a:r>
              <a:rPr lang="en-US" dirty="0"/>
              <a:t> in (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dirty="0"/>
              <a:t>select </a:t>
            </a:r>
            <a:r>
              <a:rPr lang="en-US" dirty="0" err="1"/>
              <a:t>donor_id</a:t>
            </a:r>
            <a:r>
              <a:rPr lang="en-US" dirty="0"/>
              <a:t> from donation where quantity = (        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dirty="0"/>
              <a:t>select max(quantity) from donation ) );</a:t>
            </a:r>
          </a:p>
        </p:txBody>
      </p:sp>
    </p:spTree>
    <p:extLst>
      <p:ext uri="{BB962C8B-B14F-4D97-AF65-F5344CB8AC3E}">
        <p14:creationId xmlns:p14="http://schemas.microsoft.com/office/powerpoint/2010/main" val="2637673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95691-938F-2A8E-8E21-DD9B57174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99614-6F24-A784-03CE-9871F0E3E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Sub query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6BA94D-DA44-F5F1-C271-91BFF94ACC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867401" y="1828799"/>
            <a:ext cx="6493295" cy="762000"/>
          </a:xfrm>
        </p:spPr>
        <p:txBody>
          <a:bodyPr/>
          <a:lstStyle/>
          <a:p>
            <a:r>
              <a:rPr lang="en-IN" dirty="0"/>
              <a:t>Q2. Display donors with blood group A+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5D7E68-08CD-18BB-1951-4D6D835D6B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096000" y="2733607"/>
            <a:ext cx="5672504" cy="3810033"/>
          </a:xfrm>
        </p:spPr>
        <p:txBody>
          <a:bodyPr>
            <a:normAutofit/>
          </a:bodyPr>
          <a:lstStyle/>
          <a:p>
            <a:r>
              <a:rPr lang="en-US" dirty="0"/>
              <a:t>Syntax 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dirty="0"/>
              <a:t>	select name from donor where </a:t>
            </a:r>
            <a:r>
              <a:rPr lang="en-US" dirty="0" err="1"/>
              <a:t>donor_id</a:t>
            </a:r>
            <a:r>
              <a:rPr lang="en-US" dirty="0"/>
              <a:t> in (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dirty="0"/>
              <a:t>    select </a:t>
            </a:r>
            <a:r>
              <a:rPr lang="en-US" dirty="0" err="1"/>
              <a:t>donor_id</a:t>
            </a:r>
            <a:r>
              <a:rPr lang="en-US" dirty="0"/>
              <a:t> from donation )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dirty="0"/>
              <a:t>and </a:t>
            </a:r>
            <a:r>
              <a:rPr lang="en-US" dirty="0" err="1"/>
              <a:t>blood_group</a:t>
            </a:r>
            <a:r>
              <a:rPr lang="en-US" dirty="0"/>
              <a:t> = 'A+';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1509E90-BB7D-C4F5-F3F7-07EC93B476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93" y="1916832"/>
            <a:ext cx="3456384" cy="4392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0343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0D80FE-7F11-15E9-E627-13EA8BDEE1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7DC2F-6330-8280-31DE-BD6E5A453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Sub query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D9976B-A72C-946A-069D-4EA0E617A9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867401" y="1828799"/>
            <a:ext cx="6493295" cy="904808"/>
          </a:xfrm>
        </p:spPr>
        <p:txBody>
          <a:bodyPr/>
          <a:lstStyle/>
          <a:p>
            <a:r>
              <a:rPr lang="en-IN" dirty="0"/>
              <a:t>Q3. Find hospitals that have blood banks in Mumbai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E588EF-B59F-FE58-DDC0-93E7FFB915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867400" y="2733607"/>
            <a:ext cx="5845223" cy="3810033"/>
          </a:xfrm>
        </p:spPr>
        <p:txBody>
          <a:bodyPr>
            <a:normAutofit/>
          </a:bodyPr>
          <a:lstStyle/>
          <a:p>
            <a:r>
              <a:rPr lang="en-US" dirty="0"/>
              <a:t>Syntax 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dirty="0"/>
              <a:t>	 select </a:t>
            </a:r>
            <a:r>
              <a:rPr lang="en-US" dirty="0" err="1"/>
              <a:t>hospital_name</a:t>
            </a:r>
            <a:r>
              <a:rPr lang="en-US" dirty="0"/>
              <a:t> from hospital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dirty="0"/>
              <a:t>where </a:t>
            </a:r>
            <a:r>
              <a:rPr lang="en-US" dirty="0" err="1"/>
              <a:t>hospital_id</a:t>
            </a:r>
            <a:r>
              <a:rPr lang="en-US" dirty="0"/>
              <a:t> IN (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dirty="0"/>
              <a:t>    select </a:t>
            </a:r>
            <a:r>
              <a:rPr lang="en-US" dirty="0" err="1"/>
              <a:t>hospital_id</a:t>
            </a:r>
            <a:r>
              <a:rPr lang="en-US" dirty="0"/>
              <a:t> from </a:t>
            </a:r>
            <a:r>
              <a:rPr lang="en-US" dirty="0" err="1"/>
              <a:t>BloodBank</a:t>
            </a:r>
            <a:endParaRPr lang="en-US" dirty="0"/>
          </a:p>
          <a:p>
            <a:pPr marL="0" indent="0" algn="just">
              <a:lnSpc>
                <a:spcPct val="100000"/>
              </a:lnSpc>
              <a:buNone/>
            </a:pPr>
            <a:r>
              <a:rPr lang="en-US" dirty="0"/>
              <a:t>    where location = 'Mumbai’ );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1F4E08-C44B-2A75-A735-E98B5A0291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416" y="1868662"/>
            <a:ext cx="3384376" cy="3360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7373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F42FB-7E9A-D4BA-0A42-B2C83CA35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B90B8-15E7-0D56-7267-0D16297FB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Sub query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889293-C8D4-4572-755E-24ED81D4ED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867401" y="1828799"/>
            <a:ext cx="6493295" cy="904808"/>
          </a:xfrm>
        </p:spPr>
        <p:txBody>
          <a:bodyPr/>
          <a:lstStyle/>
          <a:p>
            <a:r>
              <a:rPr lang="en-IN" dirty="0"/>
              <a:t>Q4. Find donors who have donated blood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B999A3-1CD2-6969-9681-4C6F56E1A4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867400" y="2733607"/>
            <a:ext cx="5845223" cy="3810033"/>
          </a:xfrm>
        </p:spPr>
        <p:txBody>
          <a:bodyPr>
            <a:normAutofit/>
          </a:bodyPr>
          <a:lstStyle/>
          <a:p>
            <a:r>
              <a:rPr lang="en-US" dirty="0"/>
              <a:t>Syntax 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dirty="0"/>
              <a:t>	select name from donor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dirty="0"/>
              <a:t>where </a:t>
            </a:r>
            <a:r>
              <a:rPr lang="en-US" dirty="0" err="1"/>
              <a:t>donor_id</a:t>
            </a:r>
            <a:r>
              <a:rPr lang="en-US" dirty="0"/>
              <a:t> in (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dirty="0"/>
              <a:t>    select </a:t>
            </a:r>
            <a:r>
              <a:rPr lang="en-US" dirty="0" err="1"/>
              <a:t>donor_id</a:t>
            </a:r>
            <a:r>
              <a:rPr lang="en-US" dirty="0"/>
              <a:t> from donation );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ED75F3A-64B0-8D2A-E805-28A4CE8ABC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60" y="1700808"/>
            <a:ext cx="4608512" cy="4968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347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F4DEC7-5F83-2988-4282-58432F0D6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65155-F3CC-4E83-A70C-4BFB494EC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Sub query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F32DCF-85F0-41F0-32C5-A3B0EA3CF4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867401" y="1828799"/>
            <a:ext cx="6493295" cy="904808"/>
          </a:xfrm>
        </p:spPr>
        <p:txBody>
          <a:bodyPr/>
          <a:lstStyle/>
          <a:p>
            <a:r>
              <a:rPr lang="en-IN" dirty="0"/>
              <a:t>Q5. Find recipients who received blood from donations greater than 400 ml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FD3AB3-3296-1E15-F2ED-0B9480A20D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867400" y="2733607"/>
            <a:ext cx="5845223" cy="3810033"/>
          </a:xfrm>
        </p:spPr>
        <p:txBody>
          <a:bodyPr>
            <a:normAutofit/>
          </a:bodyPr>
          <a:lstStyle/>
          <a:p>
            <a:r>
              <a:rPr lang="en-US" dirty="0"/>
              <a:t>Syntax 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dirty="0"/>
              <a:t>	select name, </a:t>
            </a:r>
            <a:r>
              <a:rPr lang="en-US" dirty="0" err="1"/>
              <a:t>blood_group_needed</a:t>
            </a:r>
            <a:endParaRPr lang="en-US" dirty="0"/>
          </a:p>
          <a:p>
            <a:pPr marL="0" indent="0" algn="just">
              <a:lnSpc>
                <a:spcPct val="100000"/>
              </a:lnSpc>
              <a:buNone/>
            </a:pPr>
            <a:r>
              <a:rPr lang="en-US" dirty="0"/>
              <a:t>from recipient where </a:t>
            </a:r>
            <a:r>
              <a:rPr lang="en-US" dirty="0" err="1"/>
              <a:t>donation_id</a:t>
            </a:r>
            <a:r>
              <a:rPr lang="en-US" dirty="0"/>
              <a:t> in (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dirty="0"/>
              <a:t>    select </a:t>
            </a:r>
            <a:r>
              <a:rPr lang="en-US" dirty="0" err="1"/>
              <a:t>donation_id</a:t>
            </a:r>
            <a:r>
              <a:rPr lang="en-US" dirty="0"/>
              <a:t> from donation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dirty="0"/>
              <a:t>    where quantity &gt; 400 );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0AE8E7-EDEE-8EB4-DA8A-D974B3D9CB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445" y="1828799"/>
            <a:ext cx="4655365" cy="4336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5476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75000"/>
              </a:schemeClr>
            </a:gs>
          </a:gsLst>
          <a:lin ang="5400000" scaled="0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17A3A5-BA20-20AC-CAC9-E74779FCD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8E76EF70-C7B7-993D-CCF4-83D679881173}"/>
              </a:ext>
            </a:extLst>
          </p:cNvPr>
          <p:cNvSpPr txBox="1"/>
          <p:nvPr/>
        </p:nvSpPr>
        <p:spPr>
          <a:xfrm>
            <a:off x="8112224" y="1700808"/>
            <a:ext cx="316835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6000" b="1" dirty="0">
                <a:solidFill>
                  <a:schemeClr val="bg1"/>
                </a:solidFill>
              </a:rPr>
              <a:t>Blood Donation  Views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3A332D-C468-D1DA-F77F-96F440807C3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800" t="18474" r="24001"/>
          <a:stretch>
            <a:fillRect/>
          </a:stretch>
        </p:blipFill>
        <p:spPr>
          <a:xfrm>
            <a:off x="-1536848" y="116632"/>
            <a:ext cx="10733189" cy="6408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311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7D5A0-849C-F7EA-3BF8-395D49FCC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59BDE-30EE-34F7-23A7-281DF4774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Views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2AB8B5-337B-084C-3B4C-88E8EE00F0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696247" y="1690517"/>
            <a:ext cx="6493295" cy="904808"/>
          </a:xfrm>
        </p:spPr>
        <p:txBody>
          <a:bodyPr/>
          <a:lstStyle/>
          <a:p>
            <a:r>
              <a:rPr lang="en-IN" dirty="0"/>
              <a:t>Q1. Create a View to Display Donor Donation Details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11AD61-0817-94E7-0FCF-272B1547F9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713015" y="2595325"/>
            <a:ext cx="6215633" cy="381003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Syntax 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dirty="0"/>
              <a:t>	create view </a:t>
            </a:r>
            <a:r>
              <a:rPr lang="en-US" dirty="0" err="1"/>
              <a:t>donordonationview</a:t>
            </a:r>
            <a:r>
              <a:rPr lang="en-US" dirty="0"/>
              <a:t> as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dirty="0"/>
              <a:t>select d.name, </a:t>
            </a:r>
            <a:r>
              <a:rPr lang="en-US" dirty="0" err="1"/>
              <a:t>d.blood_group</a:t>
            </a:r>
            <a:r>
              <a:rPr lang="en-US" dirty="0"/>
              <a:t>,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dirty="0"/>
              <a:t>       </a:t>
            </a:r>
            <a:r>
              <a:rPr lang="en-US" dirty="0" err="1"/>
              <a:t>dn.donation_date</a:t>
            </a:r>
            <a:r>
              <a:rPr lang="en-US" dirty="0"/>
              <a:t>, </a:t>
            </a:r>
            <a:r>
              <a:rPr lang="en-US" dirty="0" err="1"/>
              <a:t>dn.quantity</a:t>
            </a:r>
            <a:endParaRPr lang="en-US" dirty="0"/>
          </a:p>
          <a:p>
            <a:pPr marL="0" indent="0" algn="just">
              <a:lnSpc>
                <a:spcPct val="100000"/>
              </a:lnSpc>
              <a:buNone/>
            </a:pPr>
            <a:r>
              <a:rPr lang="en-US" dirty="0"/>
              <a:t>from donor d inner join donation dn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dirty="0"/>
              <a:t>on </a:t>
            </a:r>
            <a:r>
              <a:rPr lang="en-US" dirty="0" err="1"/>
              <a:t>d.donor_id</a:t>
            </a:r>
            <a:r>
              <a:rPr lang="en-US" dirty="0"/>
              <a:t> = </a:t>
            </a:r>
            <a:r>
              <a:rPr lang="en-US" dirty="0" err="1"/>
              <a:t>dn.donor_id</a:t>
            </a:r>
            <a:r>
              <a:rPr lang="en-US" dirty="0"/>
              <a:t>;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dirty="0"/>
              <a:t>select * from </a:t>
            </a:r>
            <a:r>
              <a:rPr lang="en-US" dirty="0" err="1"/>
              <a:t>donordonationview</a:t>
            </a:r>
            <a:r>
              <a:rPr lang="en-US" dirty="0"/>
              <a:t> ;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E5A2803-5712-E274-7AE5-754C245C7C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60" y="1700808"/>
            <a:ext cx="4968552" cy="4842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7270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2D3191-7D11-D687-A46E-194D71047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FA0E3-5C3E-0365-D5C6-54FD45461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Views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2CCD5F-A28B-0FA9-6126-044D87080B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698705" y="1700808"/>
            <a:ext cx="6493295" cy="904808"/>
          </a:xfrm>
        </p:spPr>
        <p:txBody>
          <a:bodyPr/>
          <a:lstStyle/>
          <a:p>
            <a:r>
              <a:rPr lang="en-IN" dirty="0"/>
              <a:t>Q2. Create a View to Display Hospital and Blood Bank Details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DD3DD2-62A9-3B86-6E7A-C3029C71A0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867400" y="2733607"/>
            <a:ext cx="6061248" cy="381003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Syntax 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dirty="0"/>
              <a:t>	create view </a:t>
            </a:r>
            <a:r>
              <a:rPr lang="en-US" dirty="0" err="1"/>
              <a:t>hospitalbloodbankview</a:t>
            </a:r>
            <a:r>
              <a:rPr lang="en-US" dirty="0"/>
              <a:t> as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dirty="0"/>
              <a:t>select </a:t>
            </a:r>
            <a:r>
              <a:rPr lang="en-US" dirty="0" err="1"/>
              <a:t>h.hospital_name</a:t>
            </a:r>
            <a:r>
              <a:rPr lang="en-US" dirty="0"/>
              <a:t>, </a:t>
            </a:r>
            <a:r>
              <a:rPr lang="en-US" dirty="0" err="1"/>
              <a:t>b.bank_name</a:t>
            </a:r>
            <a:r>
              <a:rPr lang="en-US" dirty="0"/>
              <a:t>,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dirty="0"/>
              <a:t>       </a:t>
            </a:r>
            <a:r>
              <a:rPr lang="en-US" dirty="0" err="1"/>
              <a:t>b.location</a:t>
            </a:r>
            <a:r>
              <a:rPr lang="en-US" dirty="0"/>
              <a:t> from hospital h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dirty="0"/>
              <a:t>inner join </a:t>
            </a:r>
            <a:r>
              <a:rPr lang="en-US" dirty="0" err="1"/>
              <a:t>bloodbank</a:t>
            </a:r>
            <a:r>
              <a:rPr lang="en-US" dirty="0"/>
              <a:t> b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dirty="0"/>
              <a:t>on </a:t>
            </a:r>
            <a:r>
              <a:rPr lang="en-US" dirty="0" err="1"/>
              <a:t>h.hospital_id</a:t>
            </a:r>
            <a:r>
              <a:rPr lang="en-US" dirty="0"/>
              <a:t> = </a:t>
            </a:r>
            <a:r>
              <a:rPr lang="en-US" dirty="0" err="1"/>
              <a:t>b.hospital_id</a:t>
            </a:r>
            <a:r>
              <a:rPr lang="en-US" dirty="0"/>
              <a:t>;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dirty="0"/>
              <a:t>select * from </a:t>
            </a:r>
            <a:r>
              <a:rPr lang="en-US" dirty="0" err="1"/>
              <a:t>hospitalbloodbankview</a:t>
            </a:r>
            <a:r>
              <a:rPr lang="en-US" dirty="0"/>
              <a:t>;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E5FE93-DC51-E474-A8F4-8E6D8200F2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368" y="1712261"/>
            <a:ext cx="5184576" cy="5057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5594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EA93BF-33C6-D498-2A0A-6A3C386D8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77635-8A33-C844-01BF-A5C3FDEA0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Views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E6EA2C-3838-8022-3440-580A3EC7C4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698705" y="1700808"/>
            <a:ext cx="6493295" cy="904808"/>
          </a:xfrm>
        </p:spPr>
        <p:txBody>
          <a:bodyPr/>
          <a:lstStyle/>
          <a:p>
            <a:r>
              <a:rPr lang="en-IN" dirty="0"/>
              <a:t>Q2. Create a View to Display Recipient and Hospital Details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FBC76B-44B6-1520-1B6C-150CC940A8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807968" y="2605617"/>
            <a:ext cx="6120680" cy="393802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Syntax 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dirty="0"/>
              <a:t>	create view </a:t>
            </a:r>
            <a:r>
              <a:rPr lang="en-US" dirty="0" err="1"/>
              <a:t>recipienthospitalview</a:t>
            </a:r>
            <a:r>
              <a:rPr lang="en-US" dirty="0"/>
              <a:t> as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dirty="0"/>
              <a:t>select r.name as </a:t>
            </a:r>
            <a:r>
              <a:rPr lang="en-US" dirty="0" err="1"/>
              <a:t>recipient_name</a:t>
            </a:r>
            <a:r>
              <a:rPr lang="en-US" dirty="0"/>
              <a:t>, 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dirty="0" err="1"/>
              <a:t>r.blood_group_needed</a:t>
            </a:r>
            <a:r>
              <a:rPr lang="en-US" dirty="0"/>
              <a:t>, </a:t>
            </a:r>
            <a:r>
              <a:rPr lang="en-US" dirty="0" err="1"/>
              <a:t>h.hospital_name</a:t>
            </a:r>
            <a:endParaRPr lang="en-US" dirty="0"/>
          </a:p>
          <a:p>
            <a:pPr marL="0" indent="0" algn="just">
              <a:lnSpc>
                <a:spcPct val="100000"/>
              </a:lnSpc>
              <a:buNone/>
            </a:pPr>
            <a:r>
              <a:rPr lang="en-US" dirty="0"/>
              <a:t>from recipient r inner join hospital h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dirty="0"/>
              <a:t>on </a:t>
            </a:r>
            <a:r>
              <a:rPr lang="en-US" dirty="0" err="1"/>
              <a:t>r.hospital_id</a:t>
            </a:r>
            <a:r>
              <a:rPr lang="en-US" dirty="0"/>
              <a:t> = </a:t>
            </a:r>
            <a:r>
              <a:rPr lang="en-US" dirty="0" err="1"/>
              <a:t>h.hospital_id</a:t>
            </a:r>
            <a:r>
              <a:rPr lang="en-US" dirty="0"/>
              <a:t>;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dirty="0"/>
              <a:t>select * from </a:t>
            </a:r>
            <a:r>
              <a:rPr lang="en-US" dirty="0" err="1"/>
              <a:t>recipienthospitalview</a:t>
            </a:r>
            <a:r>
              <a:rPr lang="en-US" dirty="0"/>
              <a:t>;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303FBB5-FD74-A6E6-F956-4F811E7CA3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23" y="1628800"/>
            <a:ext cx="5482681" cy="5129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0194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E21771C-EB56-2153-20E2-B6FEF7E1FB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1999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723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Medical Design 16x9">
  <a:themeElements>
    <a:clrScheme name="MedicalHealth">
      <a:dk1>
        <a:sysClr val="windowText" lastClr="000000"/>
      </a:dk1>
      <a:lt1>
        <a:sysClr val="window" lastClr="FFFFFF"/>
      </a:lt1>
      <a:dk2>
        <a:srgbClr val="656367"/>
      </a:dk2>
      <a:lt2>
        <a:srgbClr val="F2F2F2"/>
      </a:lt2>
      <a:accent1>
        <a:srgbClr val="B82D2F"/>
      </a:accent1>
      <a:accent2>
        <a:srgbClr val="333333"/>
      </a:accent2>
      <a:accent3>
        <a:srgbClr val="2B4A63"/>
      </a:accent3>
      <a:accent4>
        <a:srgbClr val="445E45"/>
      </a:accent4>
      <a:accent5>
        <a:srgbClr val="5A3A64"/>
      </a:accent5>
      <a:accent6>
        <a:srgbClr val="DB8526"/>
      </a:accent6>
      <a:hlink>
        <a:srgbClr val="164E6E"/>
      </a:hlink>
      <a:folHlink>
        <a:srgbClr val="667F6D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0001141.potx" id="{D7485564-6666-4DDB-B0D3-55F6E694D6E5}" vid="{6E950D30-6FC6-4411-BCFF-468AD9ECA787}"/>
    </a:ext>
  </a:extLst>
</a:theme>
</file>

<file path=ppt/theme/theme2.xml><?xml version="1.0" encoding="utf-8"?>
<a:theme xmlns:a="http://schemas.openxmlformats.org/drawingml/2006/main" name="Office Theme">
  <a:themeElements>
    <a:clrScheme name="MedicalHealth">
      <a:dk1>
        <a:sysClr val="windowText" lastClr="000000"/>
      </a:dk1>
      <a:lt1>
        <a:sysClr val="window" lastClr="FFFFFF"/>
      </a:lt1>
      <a:dk2>
        <a:srgbClr val="656367"/>
      </a:dk2>
      <a:lt2>
        <a:srgbClr val="F2F2F2"/>
      </a:lt2>
      <a:accent1>
        <a:srgbClr val="B82D2F"/>
      </a:accent1>
      <a:accent2>
        <a:srgbClr val="333333"/>
      </a:accent2>
      <a:accent3>
        <a:srgbClr val="2B4A63"/>
      </a:accent3>
      <a:accent4>
        <a:srgbClr val="445E45"/>
      </a:accent4>
      <a:accent5>
        <a:srgbClr val="5A3A64"/>
      </a:accent5>
      <a:accent6>
        <a:srgbClr val="DB8526"/>
      </a:accent6>
      <a:hlink>
        <a:srgbClr val="164E6E"/>
      </a:hlink>
      <a:folHlink>
        <a:srgbClr val="667F6D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MedicalHealth">
      <a:dk1>
        <a:sysClr val="windowText" lastClr="000000"/>
      </a:dk1>
      <a:lt1>
        <a:sysClr val="window" lastClr="FFFFFF"/>
      </a:lt1>
      <a:dk2>
        <a:srgbClr val="656367"/>
      </a:dk2>
      <a:lt2>
        <a:srgbClr val="F2F2F2"/>
      </a:lt2>
      <a:accent1>
        <a:srgbClr val="B82D2F"/>
      </a:accent1>
      <a:accent2>
        <a:srgbClr val="333333"/>
      </a:accent2>
      <a:accent3>
        <a:srgbClr val="2B4A63"/>
      </a:accent3>
      <a:accent4>
        <a:srgbClr val="445E45"/>
      </a:accent4>
      <a:accent5>
        <a:srgbClr val="5A3A64"/>
      </a:accent5>
      <a:accent6>
        <a:srgbClr val="DB8526"/>
      </a:accent6>
      <a:hlink>
        <a:srgbClr val="164E6E"/>
      </a:hlink>
      <a:folHlink>
        <a:srgbClr val="667F6D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343</TotalTime>
  <Words>1203</Words>
  <Application>Microsoft Office PowerPoint</Application>
  <PresentationFormat>Widescreen</PresentationFormat>
  <Paragraphs>155</Paragraphs>
  <Slides>31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Franklin Gothic Medium</vt:lpstr>
      <vt:lpstr>Medical Design 16x9</vt:lpstr>
      <vt:lpstr>Blood Donation Management System</vt:lpstr>
      <vt:lpstr>🩸 Abstract  – Blood Donation Management System</vt:lpstr>
      <vt:lpstr>🎯 Objectives</vt:lpstr>
      <vt:lpstr>🩸 Entity Relationship Diagram</vt:lpstr>
      <vt:lpstr>Structure Of Table — Donor</vt:lpstr>
      <vt:lpstr>Structure Of Table — Hospital</vt:lpstr>
      <vt:lpstr>Structure Of Table: Bloodbank</vt:lpstr>
      <vt:lpstr>Structure Of Table: Donation</vt:lpstr>
      <vt:lpstr>Structure Of Table: Recipient</vt:lpstr>
      <vt:lpstr>Contents of Donor Table</vt:lpstr>
      <vt:lpstr>Contents of Hospital Table</vt:lpstr>
      <vt:lpstr>Contents of BloodBank Table</vt:lpstr>
      <vt:lpstr>Contents of Donation Table </vt:lpstr>
      <vt:lpstr>Contents of Recipient Table</vt:lpstr>
      <vt:lpstr>PowerPoint Presentation</vt:lpstr>
      <vt:lpstr>         Joins</vt:lpstr>
      <vt:lpstr>         Joins</vt:lpstr>
      <vt:lpstr>         Joins</vt:lpstr>
      <vt:lpstr>         Joins</vt:lpstr>
      <vt:lpstr>         Joins</vt:lpstr>
      <vt:lpstr>PowerPoint Presentation</vt:lpstr>
      <vt:lpstr>Sub query </vt:lpstr>
      <vt:lpstr>Sub query </vt:lpstr>
      <vt:lpstr>Sub query </vt:lpstr>
      <vt:lpstr>Sub query </vt:lpstr>
      <vt:lpstr>Sub query </vt:lpstr>
      <vt:lpstr>PowerPoint Presentation</vt:lpstr>
      <vt:lpstr>Views</vt:lpstr>
      <vt:lpstr>Views</vt:lpstr>
      <vt:lpstr>Views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saniya patil</dc:creator>
  <cp:lastModifiedBy>saniya patil</cp:lastModifiedBy>
  <cp:revision>25</cp:revision>
  <dcterms:created xsi:type="dcterms:W3CDTF">2026-07-21T17:38:45Z</dcterms:created>
  <dcterms:modified xsi:type="dcterms:W3CDTF">2026-08-07T06:32:37Z</dcterms:modified>
</cp:coreProperties>
</file>